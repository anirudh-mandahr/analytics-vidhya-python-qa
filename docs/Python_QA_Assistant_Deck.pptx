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Embed query</c:v>
                  </c:pt>
                  <c:pt idx="1">
                    <c:v>pgvector top-k</c:v>
                  </c:pt>
                  <c:pt idx="2">
                    <c:v>LLM generation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25</c:v>
                </c:pt>
                <c:pt idx="2">
                  <c:v>1200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0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840480"/>
            <a:ext cx="3108960" cy="310896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366" y="1645006"/>
            <a:ext cx="504749" cy="5047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14813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Q&amp;A ASSISTANT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103120" y="18470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grounded answers for data-science learners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Grounded Python answers,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built on real Stack Overflow Q&amp;A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22960" y="434340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over ~60K curated Stack Overflow Python pairs. It answers from retrieved content and refuses when nothing relevant matches.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5440680"/>
            <a:ext cx="931774" cy="457200"/>
          </a:xfrm>
          <a:prstGeom prst="roundRect">
            <a:avLst>
              <a:gd name="adj" fmla="val 16000"/>
            </a:avLst>
          </a:prstGeom>
          <a:solidFill>
            <a:srgbClr val="10403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5440680"/>
            <a:ext cx="9317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5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955902" y="5440680"/>
            <a:ext cx="1730045" cy="457200"/>
          </a:xfrm>
          <a:prstGeom prst="roundRect">
            <a:avLst>
              <a:gd name="adj" fmla="val 16000"/>
            </a:avLst>
          </a:prstGeom>
          <a:solidFill>
            <a:srgbClr val="10403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55902" y="5440680"/>
            <a:ext cx="17300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5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(LCEL)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887114" y="5440680"/>
            <a:ext cx="1020470" cy="457200"/>
          </a:xfrm>
          <a:prstGeom prst="roundRect">
            <a:avLst>
              <a:gd name="adj" fmla="val 16000"/>
            </a:avLst>
          </a:prstGeom>
          <a:solidFill>
            <a:srgbClr val="10403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87114" y="5440680"/>
            <a:ext cx="10204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5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108753" y="5440680"/>
            <a:ext cx="2173529" cy="457200"/>
          </a:xfrm>
          <a:prstGeom prst="roundRect">
            <a:avLst>
              <a:gd name="adj" fmla="val 16000"/>
            </a:avLst>
          </a:prstGeom>
          <a:solidFill>
            <a:srgbClr val="10403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08753" y="5440680"/>
            <a:ext cx="2173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5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483450" y="5440680"/>
            <a:ext cx="2084832" cy="457200"/>
          </a:xfrm>
          <a:prstGeom prst="roundRect">
            <a:avLst>
              <a:gd name="adj" fmla="val 16000"/>
            </a:avLst>
          </a:prstGeom>
          <a:solidFill>
            <a:srgbClr val="10403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83450" y="544068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5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· Llama 3.3 70B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22960" y="61996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C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Anirudh Mandahr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Learners need grounded answers, not confident guesses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33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Data-science learners ask Python questions constantly, and a raw LLM will answer even when it shouldn’t, inventing APIs and behavior.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3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learning, a wrong-but-confident answer is worse than “I don’t know.” Trust depends on sources you can check.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40080" y="3886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Our approach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33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real Stack Overflow answers, then generate only from that context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33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every source inline as [S1], [S2] so claims are checkable</a:t>
            </a:r>
            <a:endParaRPr lang="en-US" sz="14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33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honestly when retrieval finds nothing relevant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55080" y="1874520"/>
            <a:ext cx="5166360" cy="4206240"/>
          </a:xfrm>
          <a:prstGeom prst="roundRect">
            <a:avLst>
              <a:gd name="adj" fmla="val 2609"/>
            </a:avLst>
          </a:prstGeom>
          <a:solidFill>
            <a:srgbClr val="F2F7F6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20840" y="21488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one question flows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20840" y="2697480"/>
            <a:ext cx="4434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03720" y="2916936"/>
            <a:ext cx="475488" cy="475488"/>
          </a:xfrm>
          <a:prstGeom prst="ellipse">
            <a:avLst/>
          </a:prstGeom>
          <a:solidFill>
            <a:srgbClr val="F2F7F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7347" y="3040563"/>
            <a:ext cx="228234" cy="22823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562088" y="284378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562088" y="31455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question, pull the top-k most similar SO questions from pgvector</a:t>
            </a:r>
            <a:endParaRPr lang="en-US" sz="11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7031736" y="3630168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720840" y="3813048"/>
            <a:ext cx="4434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903720" y="4032504"/>
            <a:ext cx="475488" cy="475488"/>
          </a:xfrm>
          <a:prstGeom prst="ellipse">
            <a:avLst/>
          </a:prstGeom>
          <a:solidFill>
            <a:srgbClr val="F2F7F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7347" y="4156131"/>
            <a:ext cx="228234" cy="22823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562088" y="395935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562088" y="426110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 above the similarity floor? Refuse, with no LLM call</a:t>
            </a:r>
            <a:endParaRPr lang="en-US" sz="11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031736" y="4745736"/>
            <a:ext cx="182880" cy="1828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720840" y="4928616"/>
            <a:ext cx="4434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903720" y="5148072"/>
            <a:ext cx="475488" cy="475488"/>
          </a:xfrm>
          <a:prstGeom prst="ellipse">
            <a:avLst/>
          </a:prstGeom>
          <a:solidFill>
            <a:srgbClr val="F2F7F6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7347" y="5271699"/>
            <a:ext cx="228234" cy="22823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62088" y="507492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&amp; cite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7562088" y="53766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answers only from retrieved context, citing [S#] sources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Offline ingestion, online serving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783080"/>
          </a:xfrm>
          <a:prstGeom prst="roundRect">
            <a:avLst>
              <a:gd name="adj" fmla="val 5128"/>
            </a:avLst>
          </a:prstGeom>
          <a:solidFill>
            <a:srgbClr val="F2F7F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93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 ·  run once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2395728"/>
            <a:ext cx="196596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14984" y="2542032"/>
            <a:ext cx="420624" cy="420624"/>
          </a:xfrm>
          <a:prstGeom prst="ellipse">
            <a:avLst/>
          </a:prstGeom>
          <a:solidFill>
            <a:srgbClr val="F2F7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346" y="2651394"/>
            <a:ext cx="201900" cy="2019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50545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CSVs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014984" y="29992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~600K Q · ~1M A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2788920"/>
            <a:ext cx="164592" cy="1645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99232" y="2395728"/>
            <a:ext cx="196596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145536" y="2542032"/>
            <a:ext cx="420624" cy="420624"/>
          </a:xfrm>
          <a:prstGeom prst="ellipse">
            <a:avLst/>
          </a:prstGeom>
          <a:solidFill>
            <a:srgbClr val="F2F7F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898" y="2651394"/>
            <a:ext cx="201900" cy="2019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39312" y="250545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+ pair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3145536" y="29992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code blocks; best answer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788920"/>
            <a:ext cx="164592" cy="16459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129784" y="2395728"/>
            <a:ext cx="196596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276088" y="2542032"/>
            <a:ext cx="420624" cy="420624"/>
          </a:xfrm>
          <a:prstGeom prst="ellipse">
            <a:avLst/>
          </a:prstGeom>
          <a:solidFill>
            <a:srgbClr val="F2F7F6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5450" y="2651394"/>
            <a:ext cx="201900" cy="2019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769864" y="250545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+ cap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5276088" y="29992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gates → ~60K pairs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744" y="2788920"/>
            <a:ext cx="164592" cy="164592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7260336" y="2395728"/>
            <a:ext cx="196596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8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7406640" y="2542032"/>
            <a:ext cx="420624" cy="420624"/>
          </a:xfrm>
          <a:prstGeom prst="ellipse">
            <a:avLst/>
          </a:prstGeom>
          <a:solidFill>
            <a:srgbClr val="F2F7F6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6002" y="2651394"/>
            <a:ext cx="201900" cy="2019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900416" y="250545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questions</a:t>
            </a:r>
            <a:endParaRPr lang="en-US" sz="1150" dirty="0"/>
          </a:p>
        </p:txBody>
      </p:sp>
      <p:sp>
        <p:nvSpPr>
          <p:cNvPr id="28" name="Text 19"/>
          <p:cNvSpPr/>
          <p:nvPr/>
        </p:nvSpPr>
        <p:spPr>
          <a:xfrm>
            <a:off x="7406640" y="29992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384-d</a:t>
            </a:r>
            <a:endParaRPr lang="en-US" sz="10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6296" y="2788920"/>
            <a:ext cx="164592" cy="164592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9390888" y="2395728"/>
            <a:ext cx="196596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8000"/>
              </a:srgbClr>
            </a:outerShdw>
          </a:effectLst>
        </p:spPr>
      </p:sp>
      <p:sp>
        <p:nvSpPr>
          <p:cNvPr id="31" name="Shape 21"/>
          <p:cNvSpPr/>
          <p:nvPr/>
        </p:nvSpPr>
        <p:spPr>
          <a:xfrm>
            <a:off x="9537192" y="2542032"/>
            <a:ext cx="420624" cy="420624"/>
          </a:xfrm>
          <a:prstGeom prst="ellipse">
            <a:avLst/>
          </a:prstGeom>
          <a:solidFill>
            <a:srgbClr val="F2F7F6"/>
          </a:solidFill>
          <a:ln/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46554" y="2651394"/>
            <a:ext cx="201900" cy="20190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10030968" y="250545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+ HNSW</a:t>
            </a:r>
            <a:endParaRPr lang="en-US" sz="1150" dirty="0"/>
          </a:p>
        </p:txBody>
      </p:sp>
      <p:sp>
        <p:nvSpPr>
          <p:cNvPr id="34" name="Text 23"/>
          <p:cNvSpPr/>
          <p:nvPr/>
        </p:nvSpPr>
        <p:spPr>
          <a:xfrm>
            <a:off x="9537192" y="29992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index</a:t>
            </a:r>
            <a:endParaRPr lang="en-US" sz="1000" dirty="0"/>
          </a:p>
        </p:txBody>
      </p:sp>
      <p:sp>
        <p:nvSpPr>
          <p:cNvPr id="35" name="Shape 24"/>
          <p:cNvSpPr/>
          <p:nvPr/>
        </p:nvSpPr>
        <p:spPr>
          <a:xfrm>
            <a:off x="640080" y="3977640"/>
            <a:ext cx="10881360" cy="2194560"/>
          </a:xfrm>
          <a:prstGeom prst="roundRect">
            <a:avLst>
              <a:gd name="adj" fmla="val 4167"/>
            </a:avLst>
          </a:prstGeom>
          <a:solidFill>
            <a:srgbClr val="0F2E2E"/>
          </a:solidFill>
          <a:ln/>
        </p:spPr>
      </p:sp>
      <p:sp>
        <p:nvSpPr>
          <p:cNvPr id="36" name="Text 25"/>
          <p:cNvSpPr/>
          <p:nvPr/>
        </p:nvSpPr>
        <p:spPr>
          <a:xfrm>
            <a:off x="868680" y="41422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 ·  FastAPI serving</a:t>
            </a:r>
            <a:endParaRPr lang="en-US" sz="1200" dirty="0"/>
          </a:p>
        </p:txBody>
      </p:sp>
      <p:sp>
        <p:nvSpPr>
          <p:cNvPr id="37" name="Shape 26"/>
          <p:cNvSpPr/>
          <p:nvPr/>
        </p:nvSpPr>
        <p:spPr>
          <a:xfrm>
            <a:off x="868680" y="4544568"/>
            <a:ext cx="2011680" cy="914400"/>
          </a:xfrm>
          <a:prstGeom prst="roundRect">
            <a:avLst>
              <a:gd name="adj" fmla="val 7000"/>
            </a:avLst>
          </a:prstGeom>
          <a:solidFill>
            <a:srgbClr val="12403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Shape 27"/>
          <p:cNvSpPr/>
          <p:nvPr/>
        </p:nvSpPr>
        <p:spPr>
          <a:xfrm>
            <a:off x="1005840" y="4690872"/>
            <a:ext cx="402336" cy="402336"/>
          </a:xfrm>
          <a:prstGeom prst="ellipse">
            <a:avLst/>
          </a:prstGeom>
          <a:solidFill>
            <a:srgbClr val="0C3433"/>
          </a:solidFill>
          <a:ln/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0447" y="4795479"/>
            <a:ext cx="193121" cy="193121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1472184" y="465429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/ask</a:t>
            </a:r>
            <a:endParaRPr lang="en-US" sz="1150" dirty="0"/>
          </a:p>
        </p:txBody>
      </p:sp>
      <p:sp>
        <p:nvSpPr>
          <p:cNvPr id="41" name="Text 29"/>
          <p:cNvSpPr/>
          <p:nvPr/>
        </p:nvSpPr>
        <p:spPr>
          <a:xfrm>
            <a:off x="1033272" y="50749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C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question</a:t>
            </a:r>
            <a:endParaRPr lang="en-US" sz="950" dirty="0"/>
          </a:p>
        </p:txBody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98648" y="4892040"/>
            <a:ext cx="155448" cy="155448"/>
          </a:xfrm>
          <a:prstGeom prst="rect">
            <a:avLst/>
          </a:prstGeom>
        </p:spPr>
      </p:pic>
      <p:sp>
        <p:nvSpPr>
          <p:cNvPr id="43" name="Shape 30"/>
          <p:cNvSpPr/>
          <p:nvPr/>
        </p:nvSpPr>
        <p:spPr>
          <a:xfrm>
            <a:off x="3218688" y="4544568"/>
            <a:ext cx="2011680" cy="914400"/>
          </a:xfrm>
          <a:prstGeom prst="roundRect">
            <a:avLst>
              <a:gd name="adj" fmla="val 7000"/>
            </a:avLst>
          </a:prstGeom>
          <a:solidFill>
            <a:srgbClr val="12403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4" name="Shape 31"/>
          <p:cNvSpPr/>
          <p:nvPr/>
        </p:nvSpPr>
        <p:spPr>
          <a:xfrm>
            <a:off x="3355848" y="4690872"/>
            <a:ext cx="402336" cy="402336"/>
          </a:xfrm>
          <a:prstGeom prst="ellipse">
            <a:avLst/>
          </a:prstGeom>
          <a:solidFill>
            <a:srgbClr val="0C3433"/>
          </a:solidFill>
          <a:ln/>
        </p:spPr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60455" y="4795479"/>
            <a:ext cx="193121" cy="193121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3822192" y="465429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query</a:t>
            </a:r>
            <a:endParaRPr lang="en-US" sz="1150" dirty="0"/>
          </a:p>
        </p:txBody>
      </p:sp>
      <p:sp>
        <p:nvSpPr>
          <p:cNvPr id="47" name="Text 33"/>
          <p:cNvSpPr/>
          <p:nvPr/>
        </p:nvSpPr>
        <p:spPr>
          <a:xfrm>
            <a:off x="3383280" y="50749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C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384-d</a:t>
            </a:r>
            <a:endParaRPr lang="en-US" sz="950" dirty="0"/>
          </a:p>
        </p:txBody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48656" y="4892040"/>
            <a:ext cx="155448" cy="155448"/>
          </a:xfrm>
          <a:prstGeom prst="rect">
            <a:avLst/>
          </a:prstGeom>
        </p:spPr>
      </p:pic>
      <p:sp>
        <p:nvSpPr>
          <p:cNvPr id="49" name="Shape 34"/>
          <p:cNvSpPr/>
          <p:nvPr/>
        </p:nvSpPr>
        <p:spPr>
          <a:xfrm>
            <a:off x="5568696" y="4544568"/>
            <a:ext cx="2011680" cy="914400"/>
          </a:xfrm>
          <a:prstGeom prst="roundRect">
            <a:avLst>
              <a:gd name="adj" fmla="val 7000"/>
            </a:avLst>
          </a:prstGeom>
          <a:solidFill>
            <a:srgbClr val="12403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0" name="Shape 35"/>
          <p:cNvSpPr/>
          <p:nvPr/>
        </p:nvSpPr>
        <p:spPr>
          <a:xfrm>
            <a:off x="5705856" y="4690872"/>
            <a:ext cx="402336" cy="402336"/>
          </a:xfrm>
          <a:prstGeom prst="ellipse">
            <a:avLst/>
          </a:prstGeom>
          <a:solidFill>
            <a:srgbClr val="0C3433"/>
          </a:solidFill>
          <a:ln/>
        </p:spPr>
      </p:sp>
      <p:pic>
        <p:nvPicPr>
          <p:cNvPr id="5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10463" y="4795479"/>
            <a:ext cx="193121" cy="193121"/>
          </a:xfrm>
          <a:prstGeom prst="rect">
            <a:avLst/>
          </a:prstGeom>
        </p:spPr>
      </p:pic>
      <p:sp>
        <p:nvSpPr>
          <p:cNvPr id="52" name="Text 36"/>
          <p:cNvSpPr/>
          <p:nvPr/>
        </p:nvSpPr>
        <p:spPr>
          <a:xfrm>
            <a:off x="6172200" y="465429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top-k</a:t>
            </a:r>
            <a:endParaRPr lang="en-US" sz="1150" dirty="0"/>
          </a:p>
        </p:txBody>
      </p:sp>
      <p:sp>
        <p:nvSpPr>
          <p:cNvPr id="53" name="Text 37"/>
          <p:cNvSpPr/>
          <p:nvPr/>
        </p:nvSpPr>
        <p:spPr>
          <a:xfrm>
            <a:off x="5733288" y="50749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C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cosine, HNSW</a:t>
            </a:r>
            <a:endParaRPr lang="en-US" sz="950" dirty="0"/>
          </a:p>
        </p:txBody>
      </p:sp>
      <p:pic>
        <p:nvPicPr>
          <p:cNvPr id="5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98664" y="4892040"/>
            <a:ext cx="155448" cy="155448"/>
          </a:xfrm>
          <a:prstGeom prst="rect">
            <a:avLst/>
          </a:prstGeom>
        </p:spPr>
      </p:pic>
      <p:sp>
        <p:nvSpPr>
          <p:cNvPr id="55" name="Shape 38"/>
          <p:cNvSpPr/>
          <p:nvPr/>
        </p:nvSpPr>
        <p:spPr>
          <a:xfrm>
            <a:off x="7918704" y="4544568"/>
            <a:ext cx="1417320" cy="914400"/>
          </a:xfrm>
          <a:prstGeom prst="roundRect">
            <a:avLst>
              <a:gd name="adj" fmla="val 7000"/>
            </a:avLst>
          </a:prstGeom>
          <a:solidFill>
            <a:srgbClr val="02C39A"/>
          </a:solidFill>
          <a:ln/>
        </p:spPr>
      </p:sp>
      <p:sp>
        <p:nvSpPr>
          <p:cNvPr id="56" name="Text 39"/>
          <p:cNvSpPr/>
          <p:nvPr/>
        </p:nvSpPr>
        <p:spPr>
          <a:xfrm>
            <a:off x="7918704" y="4544568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context?</a:t>
            </a:r>
            <a:endParaRPr lang="en-US" sz="1200" dirty="0"/>
          </a:p>
        </p:txBody>
      </p:sp>
      <p:pic>
        <p:nvPicPr>
          <p:cNvPr id="5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72600" y="4690872"/>
            <a:ext cx="155448" cy="155448"/>
          </a:xfrm>
          <a:prstGeom prst="rect">
            <a:avLst/>
          </a:prstGeom>
        </p:spPr>
      </p:pic>
      <p:sp>
        <p:nvSpPr>
          <p:cNvPr id="58" name="Shape 40"/>
          <p:cNvSpPr/>
          <p:nvPr/>
        </p:nvSpPr>
        <p:spPr>
          <a:xfrm>
            <a:off x="9610344" y="4434840"/>
            <a:ext cx="1682496" cy="566928"/>
          </a:xfrm>
          <a:prstGeom prst="roundRect">
            <a:avLst>
              <a:gd name="adj" fmla="val 9677"/>
            </a:avLst>
          </a:prstGeom>
          <a:solidFill>
            <a:srgbClr val="028090"/>
          </a:solidFill>
          <a:ln/>
        </p:spPr>
      </p:sp>
      <p:sp>
        <p:nvSpPr>
          <p:cNvPr id="59" name="Text 41"/>
          <p:cNvSpPr/>
          <p:nvPr/>
        </p:nvSpPr>
        <p:spPr>
          <a:xfrm>
            <a:off x="9720072" y="44348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LCEL chain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 70B → answer + [S#]</a:t>
            </a:r>
            <a:endParaRPr lang="en-US" sz="1100" dirty="0"/>
          </a:p>
        </p:txBody>
      </p:sp>
      <p:sp>
        <p:nvSpPr>
          <p:cNvPr id="60" name="Shape 42"/>
          <p:cNvSpPr/>
          <p:nvPr/>
        </p:nvSpPr>
        <p:spPr>
          <a:xfrm>
            <a:off x="9610344" y="5074920"/>
            <a:ext cx="1682496" cy="566928"/>
          </a:xfrm>
          <a:prstGeom prst="roundRect">
            <a:avLst>
              <a:gd name="adj" fmla="val 9677"/>
            </a:avLst>
          </a:prstGeom>
          <a:solidFill>
            <a:srgbClr val="0C3433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61" name="Text 43"/>
          <p:cNvSpPr/>
          <p:nvPr/>
        </p:nvSpPr>
        <p:spPr>
          <a:xfrm>
            <a:off x="9720072" y="50749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honest refusal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E8C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grounded=false, 0 LLM calls</a:t>
            </a:r>
            <a:endParaRPr lang="en-US" sz="1100" dirty="0"/>
          </a:p>
        </p:txBody>
      </p:sp>
      <p:sp>
        <p:nvSpPr>
          <p:cNvPr id="62" name="Text 44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 · 1 OF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Embed the question, return the answer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queries read like questions, not like answer prose.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33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index the question (title + body) and store its top-voted answer as the payload, which never gets embedded.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33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 query against question text retrieves better than matching it against answer text. It is the choice that most affects retrieval quality.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526280"/>
            <a:ext cx="5120640" cy="1554480"/>
          </a:xfrm>
          <a:prstGeom prst="roundRect">
            <a:avLst>
              <a:gd name="adj" fmla="val 5882"/>
            </a:avLst>
          </a:prstGeom>
          <a:solidFill>
            <a:srgbClr val="F2F7F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47548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488563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473659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“accepted answer” flag in this export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508760" y="5074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pair each question with its highest-scored answer as the best available proxy for quality.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9360" y="187452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0F2E2E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720840" y="21488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vector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720840" y="2505456"/>
            <a:ext cx="4389120" cy="868680"/>
          </a:xfrm>
          <a:prstGeom prst="roundRect">
            <a:avLst>
              <a:gd name="adj" fmla="val 7368"/>
            </a:avLst>
          </a:prstGeom>
          <a:solidFill>
            <a:srgbClr val="12403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49440" y="2505456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  </a:t>
            </a:r>
            <a:pPr indent="0" marL="0">
              <a:buNone/>
            </a:pPr>
            <a:r>
              <a:rPr lang="en-US" sz="1250" dirty="0">
                <a:solidFill>
                  <a:srgbClr val="E5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 + body  →  MiniLM 384-d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720840" y="36118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FC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payload (not embedded)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720840" y="3968496"/>
            <a:ext cx="4389120" cy="777240"/>
          </a:xfrm>
          <a:prstGeom prst="roundRect">
            <a:avLst>
              <a:gd name="adj" fmla="val 8235"/>
            </a:avLst>
          </a:prstGeom>
          <a:solidFill>
            <a:srgbClr val="0C3433"/>
          </a:solidFill>
          <a:ln/>
        </p:spPr>
      </p:sp>
      <p:sp>
        <p:nvSpPr>
          <p:cNvPr id="16" name="Text 13"/>
          <p:cNvSpPr/>
          <p:nvPr/>
        </p:nvSpPr>
        <p:spPr>
          <a:xfrm>
            <a:off x="6949440" y="3968496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5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 </a:t>
            </a:r>
            <a:pPr indent="0" marL="0">
              <a:buNone/>
            </a:pPr>
            <a:r>
              <a:rPr lang="en-US" sz="1250" dirty="0">
                <a:solidFill>
                  <a:srgbClr val="9FC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top-voted, code preserved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720840" y="50292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 ≈  question   ≫   query  ≈  answer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720840" y="54681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C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retrieval lands on the right thread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 · 2 OF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High-signal subset + a short-circuit guardrail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02152" cy="2468880"/>
          </a:xfrm>
          <a:prstGeom prst="roundRect">
            <a:avLst>
              <a:gd name="adj" fmla="val 3704"/>
            </a:avLst>
          </a:prstGeom>
          <a:solidFill>
            <a:srgbClr val="F2F7F6"/>
          </a:solidFill>
          <a:ln/>
          <a:effectLst>
            <a:outerShdw sx="100000" sy="100000" kx="0" ky="0" algn="bl" rotWithShape="0" blurRad="889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035808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Score-filtered corpus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3584448"/>
            <a:ext cx="2862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score ≥ 2 and answer score ≥ 2, capped at ~60K pairs. High signal, and ~90 MB of 384-d vectors fits a free-tier Postgres.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25112" y="1965960"/>
            <a:ext cx="3502152" cy="2468880"/>
          </a:xfrm>
          <a:prstGeom prst="roundRect">
            <a:avLst>
              <a:gd name="adj" fmla="val 3704"/>
            </a:avLst>
          </a:prstGeom>
          <a:solidFill>
            <a:srgbClr val="F2F7F6"/>
          </a:solidFill>
          <a:ln/>
          <a:effectLst>
            <a:outerShdw sx="100000" sy="100000" kx="0" ky="0" algn="bl" rotWithShape="0" blurRad="889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5152" y="2286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1573" y="24524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5152" y="3035808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Similarity floor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45152" y="3584448"/>
            <a:ext cx="2862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retrieved pair clears cosine 0.45, the API returns an honest “I don’t know” with grounded=false.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10144" y="1965960"/>
            <a:ext cx="3502152" cy="2468880"/>
          </a:xfrm>
          <a:prstGeom prst="roundRect">
            <a:avLst>
              <a:gd name="adj" fmla="val 3704"/>
            </a:avLst>
          </a:prstGeom>
          <a:solidFill>
            <a:srgbClr val="F2F7F6"/>
          </a:solidFill>
          <a:ln/>
          <a:effectLst>
            <a:outerShdw sx="100000" sy="100000" kx="0" ky="0" algn="bl" rotWithShape="0" blurRad="889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0184" y="2286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605" y="245242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0184" y="3035808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Refuse before the LLM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30184" y="3584448"/>
            <a:ext cx="2862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refusal happens before any LLM call, so off-topic input costs nothing and there is no opening to hallucinate.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470916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0F2E2E"/>
          </a:solidFill>
          <a:ln/>
        </p:spPr>
      </p:sp>
      <p:sp>
        <p:nvSpPr>
          <p:cNvPr id="20" name="Text 15"/>
          <p:cNvSpPr/>
          <p:nvPr/>
        </p:nvSpPr>
        <p:spPr>
          <a:xfrm>
            <a:off x="640080" y="4864608"/>
            <a:ext cx="27203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2C39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~60K</a:t>
            </a:r>
            <a:endParaRPr lang="en-US" sz="3300" dirty="0"/>
          </a:p>
        </p:txBody>
      </p:sp>
      <p:sp>
        <p:nvSpPr>
          <p:cNvPr id="21" name="Text 16"/>
          <p:cNvSpPr/>
          <p:nvPr/>
        </p:nvSpPr>
        <p:spPr>
          <a:xfrm>
            <a:off x="822960" y="5486400"/>
            <a:ext cx="2354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Q&amp;A pairs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3360420" y="4983480"/>
            <a:ext cx="0" cy="914400"/>
          </a:xfrm>
          <a:prstGeom prst="line">
            <a:avLst/>
          </a:prstGeom>
          <a:noFill/>
          <a:ln w="12700">
            <a:solidFill>
              <a:srgbClr val="2A5453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360420" y="4864608"/>
            <a:ext cx="27203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2C39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0.45</a:t>
            </a:r>
            <a:endParaRPr lang="en-US" sz="3300" dirty="0"/>
          </a:p>
        </p:txBody>
      </p:sp>
      <p:sp>
        <p:nvSpPr>
          <p:cNvPr id="24" name="Text 19"/>
          <p:cNvSpPr/>
          <p:nvPr/>
        </p:nvSpPr>
        <p:spPr>
          <a:xfrm>
            <a:off x="3543300" y="5486400"/>
            <a:ext cx="2354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floor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080760" y="4983480"/>
            <a:ext cx="0" cy="914400"/>
          </a:xfrm>
          <a:prstGeom prst="line">
            <a:avLst/>
          </a:prstGeom>
          <a:noFill/>
          <a:ln w="12700">
            <a:solidFill>
              <a:srgbClr val="2A5453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080760" y="4864608"/>
            <a:ext cx="27203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2C39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</a:t>
            </a:r>
            <a:endParaRPr lang="en-US" sz="3300" dirty="0"/>
          </a:p>
        </p:txBody>
      </p:sp>
      <p:sp>
        <p:nvSpPr>
          <p:cNvPr id="27" name="Text 22"/>
          <p:cNvSpPr/>
          <p:nvPr/>
        </p:nvSpPr>
        <p:spPr>
          <a:xfrm>
            <a:off x="6263640" y="5486400"/>
            <a:ext cx="2354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 on low-similarity input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8801100" y="4983480"/>
            <a:ext cx="0" cy="914400"/>
          </a:xfrm>
          <a:prstGeom prst="line">
            <a:avLst/>
          </a:prstGeom>
          <a:noFill/>
          <a:ln w="12700">
            <a:solidFill>
              <a:srgbClr val="2A5453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801100" y="4864608"/>
            <a:ext cx="27203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2C39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$0</a:t>
            </a:r>
            <a:endParaRPr lang="en-US" sz="3300" dirty="0"/>
          </a:p>
        </p:txBody>
      </p:sp>
      <p:sp>
        <p:nvSpPr>
          <p:cNvPr id="30" name="Text 25"/>
          <p:cNvSpPr/>
          <p:nvPr/>
        </p:nvSpPr>
        <p:spPr>
          <a:xfrm>
            <a:off x="8983980" y="5486400"/>
            <a:ext cx="2354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(self-hosted MiniLM)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TESTING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 endpoints, three layers of tests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0F2E2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95728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/ask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CFE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question } → { answer, sources[], grounded, latency_ms }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/health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CFE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status, database, version }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FC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422 invalid  ·  502 LLM down  ·  503 DB down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end-to-end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3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asyncpg pool · embedding in a worker thread · model warmed at startup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0936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5212080" cy="1243584"/>
          </a:xfrm>
          <a:prstGeom prst="roundRect">
            <a:avLst>
              <a:gd name="adj" fmla="val 6618"/>
            </a:avLst>
          </a:prstGeom>
          <a:solidFill>
            <a:srgbClr val="F2F7F6"/>
          </a:solidFill>
          <a:ln/>
          <a:effectLst>
            <a:outerShdw sx="100000" sy="100000" kx="0" ky="0" algn="bl" rotWithShape="0" blurRad="88900" dist="381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0528" y="248716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7929" y="2634569"/>
            <a:ext cx="272125" cy="27212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269480" y="23957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unit tests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269480" y="276148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mocked retrieval + LLM: happy path, 422 validation, 502/503 failures, no-context short-circuit (asserts 0 LLM calls)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309360" y="3529584"/>
            <a:ext cx="5212080" cy="1243584"/>
          </a:xfrm>
          <a:prstGeom prst="roundRect">
            <a:avLst>
              <a:gd name="adj" fmla="val 6618"/>
            </a:avLst>
          </a:prstGeom>
          <a:solidFill>
            <a:srgbClr val="F2F7F6"/>
          </a:solidFill>
          <a:ln/>
          <a:effectLst>
            <a:outerShdw sx="100000" sy="100000" kx="0" ky="0" algn="bl" rotWithShape="0" blurRad="88900" dist="38100" dir="27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10528" y="38221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929" y="3969593"/>
            <a:ext cx="272125" cy="27212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269480" y="37307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integration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7269480" y="4096512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DB + Groq smoke tests, gated behind QA_API_BASE_URL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309360" y="4864608"/>
            <a:ext cx="5212080" cy="1243584"/>
          </a:xfrm>
          <a:prstGeom prst="roundRect">
            <a:avLst>
              <a:gd name="adj" fmla="val 6618"/>
            </a:avLst>
          </a:prstGeom>
          <a:solidFill>
            <a:srgbClr val="F2F7F6"/>
          </a:solidFill>
          <a:ln/>
          <a:effectLst>
            <a:outerShdw sx="100000" sy="100000" kx="0" ky="0" algn="bl" rotWithShape="0" blurRad="88900" dist="38100" dir="27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510528" y="515721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929" y="5304617"/>
            <a:ext cx="272125" cy="27212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269480" y="50657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+ golden set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7269480" y="5431536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12-query review file, plus a scored golden set: answerable-recall, refusal-precision, citation-rate, hit@k, latency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the eval covers, and where the architecture breaks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2F7F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2914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128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Eval set: answered well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88036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vs tuple; merging dicts (core syntax)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KeyError debugging; reading large files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iterating a pandas DataFrame (data science)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GIL &amp; multithreading (conceptual)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decorators, with a runnable example (code-heavy)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__str__ vs __repr__ (conceptual)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low-similarity input (CSS, vague) refused by the 0.45 floor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72200" y="192024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BF3EC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2176272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427" y="2299899"/>
            <a:ext cx="228234" cy="2282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221284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Where this architecture breaks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446520" y="290779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/ register mismatch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46520" y="3191256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B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bi-encoder retrieval. A relevant pair is indexed, but the query embedding lands in a different region than the answer prose, so it never enters top-K. Reranking can't recover it. Fix: hybrid BM25 + vector.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446520" y="3986784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Chunk-free, short-text retrieval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446520" y="427024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B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are embedded whole. A long multi-part question dilutes into one averaged vector, weakening matches on any single part. Fix: structure-aware splitting + multi-vector.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446520" y="506577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boundary (data, not design)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46520" y="53492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B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ends in 2016. Post-2016 features (walrus, match) aren't covered, so the grounding prompt, not the floor, flags the gap.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TO 100+ CONCURRENT USERS · 1 OF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Latency budget &amp; async I/O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time goes (per request)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240280"/>
          <a:ext cx="56692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06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dominates, so that is where to optimize first (stream tokens, cache).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0" y="2057400"/>
            <a:ext cx="5120640" cy="1280160"/>
          </a:xfrm>
          <a:prstGeom prst="roundRect">
            <a:avLst>
              <a:gd name="adj" fmla="val 6429"/>
            </a:avLst>
          </a:prstGeom>
          <a:solidFill>
            <a:srgbClr val="F2F7F6"/>
          </a:solidFill>
          <a:ln/>
          <a:effectLst>
            <a:outerShdw sx="100000" sy="100000" kx="0" ky="0" algn="bl" rotWithShape="0" blurRad="88900" dist="38100" dir="27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601968" y="235000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369" y="2497409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60920" y="2240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everywhere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360920" y="26060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DB + LLM I/O; embedding runs in a worker thread, so the event loop never stalls.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0" y="3429000"/>
            <a:ext cx="5120640" cy="1280160"/>
          </a:xfrm>
          <a:prstGeom prst="roundRect">
            <a:avLst>
              <a:gd name="adj" fmla="val 6429"/>
            </a:avLst>
          </a:prstGeom>
          <a:solidFill>
            <a:srgbClr val="F2F7F6"/>
          </a:solidFill>
          <a:ln/>
          <a:effectLst>
            <a:outerShdw sx="100000" sy="100000" kx="0" ky="0" algn="bl" rotWithShape="0" blurRad="88900" dist="38100" dir="27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601968" y="372160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369" y="3869009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60920" y="3611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responses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7360920" y="39776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 stream tokens as they generate, so perceived latency drops even though total time is unchanged.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400800" y="4800600"/>
            <a:ext cx="5120640" cy="1280160"/>
          </a:xfrm>
          <a:prstGeom prst="roundRect">
            <a:avLst>
              <a:gd name="adj" fmla="val 6429"/>
            </a:avLst>
          </a:prstGeom>
          <a:solidFill>
            <a:srgbClr val="F2F7F6"/>
          </a:solidFill>
          <a:ln/>
          <a:effectLst>
            <a:outerShdw sx="100000" sy="100000" kx="0" ky="0" algn="bl" rotWithShape="0" blurRad="88900" dist="38100" dir="27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601968" y="509320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9369" y="5240609"/>
            <a:ext cx="272125" cy="2721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60920" y="4983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embeddings at high QPS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7360920" y="53492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embedding to a micro-batched service (or ONNX) instead of running it in-process.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TO 100+ CONCURRENT USERS · 2 OF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Database, caching &amp; cost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02152" cy="3520440"/>
          </a:xfrm>
          <a:prstGeom prst="roundRect">
            <a:avLst>
              <a:gd name="adj" fmla="val 2611"/>
            </a:avLst>
          </a:prstGeom>
          <a:solidFill>
            <a:srgbClr val="F2F7F6"/>
          </a:solidFill>
          <a:ln/>
          <a:effectLst>
            <a:outerShdw sx="100000" sy="100000" kx="0" ky="0" algn="bl" rotWithShape="0" blurRad="889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296" y="245717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395728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Database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3200400"/>
            <a:ext cx="290779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pgbouncer pooling (built into Supabase)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API → scale replicas horizontally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replicas + HNSW headroom to millions of rows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25112" y="1965960"/>
            <a:ext cx="3502152" cy="3520440"/>
          </a:xfrm>
          <a:prstGeom prst="roundRect">
            <a:avLst>
              <a:gd name="adj" fmla="val 2611"/>
            </a:avLst>
          </a:prstGeom>
          <a:solidFill>
            <a:srgbClr val="F2F7F6"/>
          </a:solidFill>
          <a:ln/>
          <a:effectLst>
            <a:outerShdw sx="100000" sy="100000" kx="0" ky="0" algn="bl" rotWithShape="0" blurRad="889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5152" y="228600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6328" y="2457176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2392" y="2395728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Caching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45152" y="3200400"/>
            <a:ext cx="290779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exact-match on normalized questions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cache: cosine 0.97+ on query embeddings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questions repeat, so hit rate is high and each hit removes an LLM call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10144" y="1965960"/>
            <a:ext cx="3502152" cy="3520440"/>
          </a:xfrm>
          <a:prstGeom prst="roundRect">
            <a:avLst>
              <a:gd name="adj" fmla="val 2611"/>
            </a:avLst>
          </a:prstGeom>
          <a:solidFill>
            <a:srgbClr val="F2F7F6"/>
          </a:solidFill>
          <a:ln/>
          <a:effectLst>
            <a:outerShdw sx="100000" sy="100000" kx="0" ky="0" algn="bl" rotWithShape="0" blurRad="889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0184" y="228600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360" y="2457176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07424" y="2395728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Cost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330184" y="3200400"/>
            <a:ext cx="290779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embeddings self-hosted = $0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answer &lt; $0.01 at ~1K tokens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hits are free; rate-limit per client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571500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0F2E2E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58521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439" y="598291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5715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stateless replicas and a semantic cache, 100+ concurrent learners become a horizontal-scaling and cache-hit-rate problem, not an architecture rewrite.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480560"/>
            <a:ext cx="4023360" cy="4023360"/>
          </a:xfrm>
          <a:prstGeom prst="ellipse">
            <a:avLst/>
          </a:prstGeom>
          <a:solidFill>
            <a:srgbClr val="028090">
              <a:alpha val="2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371600"/>
            <a:ext cx="3474720" cy="347472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ROADMAP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042416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Live now, and what I'd build next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12403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2121408"/>
            <a:ext cx="457200" cy="457200"/>
          </a:xfrm>
          <a:prstGeom prst="ellipse">
            <a:avLst/>
          </a:prstGeom>
          <a:solidFill>
            <a:srgbClr val="0C343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240280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27632" y="192024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 </a:t>
            </a:r>
            <a:pPr indent="0" marL="0">
              <a:buNone/>
            </a:pPr>
            <a:r>
              <a:rPr lang="en-US" sz="1250" dirty="0">
                <a:solidFill>
                  <a:srgbClr val="E5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anirudhm12-python-qa-assistant.hf.space/docs</a:t>
            </a:r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GitHub  </a:t>
            </a:r>
            <a:pPr indent="0" marL="0">
              <a:buNone/>
            </a:pPr>
            <a:r>
              <a:rPr lang="en-US" sz="1250" dirty="0">
                <a:solidFill>
                  <a:srgbClr val="E5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github.com/anirudh-mandahr/analytics-vidhya-python-qa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2971800"/>
            <a:ext cx="10515600" cy="1371600"/>
          </a:xfrm>
          <a:prstGeom prst="roundRect">
            <a:avLst>
              <a:gd name="adj" fmla="val 6667"/>
            </a:avLst>
          </a:prstGeom>
          <a:solidFill>
            <a:srgbClr val="0C3433"/>
          </a:solidFill>
          <a:ln/>
        </p:spPr>
      </p:sp>
      <p:sp>
        <p:nvSpPr>
          <p:cNvPr id="11" name="Shape 8"/>
          <p:cNvSpPr/>
          <p:nvPr/>
        </p:nvSpPr>
        <p:spPr>
          <a:xfrm>
            <a:off x="1078992" y="3200400"/>
            <a:ext cx="512064" cy="512064"/>
          </a:xfrm>
          <a:prstGeom prst="ellipse">
            <a:avLst/>
          </a:prstGeom>
          <a:solidFill>
            <a:srgbClr val="12403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129" y="3333537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37360" y="3127248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prior PDF Q&amp;A RAG build (same pgvector + Groq + LCEL core)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737360" y="3474720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shipped cross-encoder reranking and MMR retrieval, then hit a bi-encoder failure: on some natural-language queries the relevant chunk falls outside top-K, because the query embedding lands in a different region of vector space than the document prose. I traced it through direct SQL inspection of pgvector. Reranking can't recover a chunk that was never retrieved, which is exactly why hybrid retrieval is first on the list below.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2960" y="4526280"/>
            <a:ext cx="2542032" cy="1051560"/>
          </a:xfrm>
          <a:prstGeom prst="roundRect">
            <a:avLst>
              <a:gd name="adj" fmla="val 6957"/>
            </a:avLst>
          </a:prstGeom>
          <a:solidFill>
            <a:srgbClr val="12403F"/>
          </a:solidFill>
          <a:ln w="12700">
            <a:solidFill>
              <a:srgbClr val="2A545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87552" y="4681728"/>
            <a:ext cx="384048" cy="384048"/>
          </a:xfrm>
          <a:prstGeom prst="ellipse">
            <a:avLst/>
          </a:prstGeom>
          <a:solidFill>
            <a:srgbClr val="0C343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404" y="4781580"/>
            <a:ext cx="184343" cy="18434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9264" y="510235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BM25 + vector (RRF)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969264" y="5358384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C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for the mismatch above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483864" y="4526280"/>
            <a:ext cx="2542032" cy="1051560"/>
          </a:xfrm>
          <a:prstGeom prst="roundRect">
            <a:avLst>
              <a:gd name="adj" fmla="val 6957"/>
            </a:avLst>
          </a:prstGeom>
          <a:solidFill>
            <a:srgbClr val="12403F"/>
          </a:solidFill>
          <a:ln w="12700">
            <a:solidFill>
              <a:srgbClr val="2A545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648456" y="4681728"/>
            <a:ext cx="384048" cy="384048"/>
          </a:xfrm>
          <a:prstGeom prst="ellipse">
            <a:avLst/>
          </a:prstGeom>
          <a:solidFill>
            <a:srgbClr val="0C343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8308" y="4781580"/>
            <a:ext cx="184343" cy="18434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630168" y="510235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3630168" y="5358384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C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a wider candidate pool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6144768" y="4526280"/>
            <a:ext cx="2542032" cy="1051560"/>
          </a:xfrm>
          <a:prstGeom prst="roundRect">
            <a:avLst>
              <a:gd name="adj" fmla="val 6957"/>
            </a:avLst>
          </a:prstGeom>
          <a:solidFill>
            <a:srgbClr val="12403F"/>
          </a:solidFill>
          <a:ln w="12700">
            <a:solidFill>
              <a:srgbClr val="2A545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309360" y="4681728"/>
            <a:ext cx="384048" cy="384048"/>
          </a:xfrm>
          <a:prstGeom prst="ellipse">
            <a:avLst/>
          </a:prstGeom>
          <a:solidFill>
            <a:srgbClr val="0C3433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212" y="4781580"/>
            <a:ext cx="184343" cy="18434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291072" y="510235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as an MCP tool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6291072" y="5358384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C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callable by a tutor agent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8805672" y="4526280"/>
            <a:ext cx="2542032" cy="1051560"/>
          </a:xfrm>
          <a:prstGeom prst="roundRect">
            <a:avLst>
              <a:gd name="adj" fmla="val 6957"/>
            </a:avLst>
          </a:prstGeom>
          <a:solidFill>
            <a:srgbClr val="12403F"/>
          </a:solidFill>
          <a:ln w="12700">
            <a:solidFill>
              <a:srgbClr val="2A5453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970264" y="4681728"/>
            <a:ext cx="384048" cy="384048"/>
          </a:xfrm>
          <a:prstGeom prst="ellipse">
            <a:avLst/>
          </a:prstGeom>
          <a:solidFill>
            <a:srgbClr val="0C3433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0116" y="4781580"/>
            <a:ext cx="184343" cy="18434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51976" y="510235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it at course content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8951976" y="5358384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C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over lessons + question banks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822960" y="5897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2C39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you. Questions welcome.</a:t>
            </a:r>
            <a:endParaRPr lang="en-US" sz="1800" dirty="0"/>
          </a:p>
        </p:txBody>
      </p:sp>
      <p:sp>
        <p:nvSpPr>
          <p:cNvPr id="36" name="Text 28"/>
          <p:cNvSpPr/>
          <p:nvPr/>
        </p:nvSpPr>
        <p:spPr>
          <a:xfrm>
            <a:off x="822960" y="6355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Anirudh Mandahr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 Q&amp;A Assistant</dc:title>
  <dc:subject>PptxGenJS Presentation</dc:subject>
  <dc:creator>Anirudh Mandahr</dc:creator>
  <cp:lastModifiedBy>Anirudh Mandahr</cp:lastModifiedBy>
  <cp:revision>1</cp:revision>
  <dcterms:created xsi:type="dcterms:W3CDTF">2026-06-13T10:13:36Z</dcterms:created>
  <dcterms:modified xsi:type="dcterms:W3CDTF">2026-06-13T10:13:36Z</dcterms:modified>
</cp:coreProperties>
</file>